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62E769-7527-48A7-9437-56D478368C7F}">
          <p14:sldIdLst>
            <p14:sldId id="256"/>
          </p14:sldIdLst>
        </p14:section>
        <p14:section name="Untitled Section" id="{AD1D36DE-B5AB-4E5F-8331-9A3D3E0481E5}">
          <p14:sldIdLst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FE9EA4-17C3-456F-8F05-C64F5D699C56}" v="291" dt="2025-12-31T18:59:13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368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32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36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18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1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74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59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6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74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684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3710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6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268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677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06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6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3000">
              <a:schemeClr val="accent1">
                <a:lumMod val="45000"/>
                <a:lumOff val="55000"/>
                <a:alpha val="99000"/>
              </a:schemeClr>
            </a:gs>
            <a:gs pos="0">
              <a:schemeClr val="accent1">
                <a:lumMod val="45000"/>
                <a:lumOff val="55000"/>
              </a:schemeClr>
            </a:gs>
            <a:gs pos="48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41055AF-BB54-4882-B420-C20C480E9B6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AF61B3C-C1B5-4CBD-8E96-57EA6B466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704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  <a:alpha val="99000"/>
              </a:schemeClr>
            </a:gs>
            <a:gs pos="0">
              <a:schemeClr val="accent1">
                <a:lumMod val="45000"/>
                <a:lumOff val="55000"/>
              </a:schemeClr>
            </a:gs>
            <a:gs pos="48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C652-4A78-DE44-C60F-7E0F56E73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558953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Aegis-Net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A34C2-F65B-C2B5-3A1F-3D9176794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8206"/>
            <a:ext cx="9144000" cy="1655762"/>
          </a:xfrm>
        </p:spPr>
        <p:txBody>
          <a:bodyPr/>
          <a:lstStyle/>
          <a:p>
            <a:endParaRPr lang="en-US" dirty="0"/>
          </a:p>
          <a:p>
            <a:r>
              <a:rPr lang="en-IN" dirty="0"/>
              <a:t>A Hackathon project presentation on the security</a:t>
            </a:r>
          </a:p>
          <a:p>
            <a:r>
              <a:rPr lang="en-IN" dirty="0"/>
              <a:t>Of the IoT devices.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B7E1F-B467-C4CD-232D-46EB2A8CFC44}"/>
              </a:ext>
            </a:extLst>
          </p:cNvPr>
          <p:cNvSpPr txBox="1"/>
          <p:nvPr/>
        </p:nvSpPr>
        <p:spPr>
          <a:xfrm>
            <a:off x="1524000" y="5430227"/>
            <a:ext cx="7108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by:- </a:t>
            </a:r>
            <a:r>
              <a:rPr lang="en-US" dirty="0" err="1">
                <a:solidFill>
                  <a:schemeClr val="bg1"/>
                </a:solidFill>
              </a:rPr>
              <a:t>Prioneer</a:t>
            </a:r>
            <a:r>
              <a:rPr lang="en-US" dirty="0">
                <a:solidFill>
                  <a:schemeClr val="bg1"/>
                </a:solidFill>
              </a:rPr>
              <a:t> Quantum</a:t>
            </a:r>
          </a:p>
          <a:p>
            <a:r>
              <a:rPr lang="en-US" dirty="0">
                <a:solidFill>
                  <a:schemeClr val="bg1"/>
                </a:solidFill>
              </a:rPr>
              <a:t> Team Members:- Dhiraj </a:t>
            </a:r>
            <a:r>
              <a:rPr lang="en-US" dirty="0" err="1">
                <a:solidFill>
                  <a:schemeClr val="bg1"/>
                </a:solidFill>
              </a:rPr>
              <a:t>Alhawat</a:t>
            </a:r>
            <a:r>
              <a:rPr lang="en-US" dirty="0">
                <a:solidFill>
                  <a:schemeClr val="bg1"/>
                </a:solidFill>
              </a:rPr>
              <a:t>, Shivansh Kapoor &amp; Mithun </a:t>
            </a:r>
          </a:p>
          <a:p>
            <a:r>
              <a:rPr lang="en-US" dirty="0">
                <a:solidFill>
                  <a:schemeClr val="bg1"/>
                </a:solidFill>
              </a:rPr>
              <a:t>Team Leader:- Shivansh Kapoor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2C5E5-2600-2210-B6C7-D7AE07963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51" y="3605981"/>
            <a:ext cx="2691319" cy="15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43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EDE1DD-714A-DA41-C061-DB21116BF4AF}"/>
              </a:ext>
            </a:extLst>
          </p:cNvPr>
          <p:cNvSpPr txBox="1"/>
          <p:nvPr/>
        </p:nvSpPr>
        <p:spPr>
          <a:xfrm>
            <a:off x="3215148" y="442451"/>
            <a:ext cx="6941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But! What is Aegis-Net 🤔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D8216-9C25-FB69-2F85-4A7B4E63ED70}"/>
              </a:ext>
            </a:extLst>
          </p:cNvPr>
          <p:cNvSpPr txBox="1"/>
          <p:nvPr/>
        </p:nvSpPr>
        <p:spPr>
          <a:xfrm>
            <a:off x="1681315" y="3038167"/>
            <a:ext cx="79641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Aegis-Net is a smart security system that uses fake login traps    to </a:t>
            </a:r>
            <a:r>
              <a:rPr lang="en-US" sz="2000" dirty="0" err="1">
                <a:solidFill>
                  <a:schemeClr val="bg1"/>
                </a:solidFill>
              </a:rPr>
              <a:t>detectattackers</a:t>
            </a:r>
            <a:r>
              <a:rPr lang="en-US" sz="2000" dirty="0">
                <a:solidFill>
                  <a:schemeClr val="bg1"/>
                </a:solidFill>
              </a:rPr>
              <a:t>, understand how risky they are, and instantly alert </a:t>
            </a:r>
            <a:r>
              <a:rPr lang="en-US" sz="2000" dirty="0" err="1">
                <a:solidFill>
                  <a:schemeClr val="bg1"/>
                </a:solidFill>
              </a:rPr>
              <a:t>networkowners</a:t>
            </a:r>
            <a:r>
              <a:rPr lang="en-US" sz="2000" dirty="0">
                <a:solidFill>
                  <a:schemeClr val="bg1"/>
                </a:solidFill>
              </a:rPr>
              <a:t> before any real damage happens.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18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CFD1C-8642-8D00-354B-62BEE8E5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F8A2EE-169A-9777-8E0F-5EF26A90D7D3}"/>
              </a:ext>
            </a:extLst>
          </p:cNvPr>
          <p:cNvSpPr txBox="1"/>
          <p:nvPr/>
        </p:nvSpPr>
        <p:spPr>
          <a:xfrm>
            <a:off x="1396179" y="2861128"/>
            <a:ext cx="79641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Basic Need of The Aegis-Net Is :-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Home User's Security.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Attacks Happen Silently.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Monitors The Activity.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in a hoodie&#10;&#10;AI-generated content may be incorrect.">
            <a:extLst>
              <a:ext uri="{FF2B5EF4-FFF2-40B4-BE49-F238E27FC236}">
                <a16:creationId xmlns:a16="http://schemas.microsoft.com/office/drawing/2014/main" id="{D95DA2B4-76E9-069E-354C-6979F638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704" y="3099539"/>
            <a:ext cx="3684691" cy="2074666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A834FCAB-5B69-A114-C5FE-9CE9EA137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88374" cy="38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A5DAE6A-6D2D-B34B-8DB3-F83FEE07AA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5776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BF622-EEFB-66B6-CBB5-439700B1ECD6}"/>
              </a:ext>
            </a:extLst>
          </p:cNvPr>
          <p:cNvSpPr txBox="1"/>
          <p:nvPr/>
        </p:nvSpPr>
        <p:spPr>
          <a:xfrm>
            <a:off x="3819458" y="688300"/>
            <a:ext cx="4785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is the need?🤞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848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DE1DC-28BE-1B67-5436-CFCE34477364}"/>
              </a:ext>
            </a:extLst>
          </p:cNvPr>
          <p:cNvSpPr txBox="1"/>
          <p:nvPr/>
        </p:nvSpPr>
        <p:spPr>
          <a:xfrm>
            <a:off x="3224981" y="658761"/>
            <a:ext cx="6088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We </a:t>
            </a:r>
            <a:r>
              <a:rPr lang="en-US" sz="3600" b="1" dirty="0">
                <a:solidFill>
                  <a:schemeClr val="bg1"/>
                </a:solidFill>
              </a:rPr>
              <a:t>Actually</a:t>
            </a:r>
            <a:r>
              <a:rPr lang="en-US" sz="3200" b="1" dirty="0">
                <a:solidFill>
                  <a:schemeClr val="bg1"/>
                </a:solidFill>
              </a:rPr>
              <a:t> Made? 🙌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894F0-19C5-EE45-41FF-901B5FC4F693}"/>
              </a:ext>
            </a:extLst>
          </p:cNvPr>
          <p:cNvSpPr txBox="1"/>
          <p:nvPr/>
        </p:nvSpPr>
        <p:spPr>
          <a:xfrm>
            <a:off x="1750141" y="2753032"/>
            <a:ext cx="59638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Risk Intelligence Engine, Not a simple fake login page.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system that sends immediate alert to the owner.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Sends the exact time of Login.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7177A-739C-6BEE-3023-AFE0BB22A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419" y="2930014"/>
            <a:ext cx="2974468" cy="1728284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49358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5BD45E-B294-3212-67E2-1C6CA8F097C1}"/>
              </a:ext>
            </a:extLst>
          </p:cNvPr>
          <p:cNvSpPr txBox="1"/>
          <p:nvPr/>
        </p:nvSpPr>
        <p:spPr>
          <a:xfrm>
            <a:off x="1514167" y="2767280"/>
            <a:ext cx="53782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· Fake router login page (honeypot)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· Logs attacker credentials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· </a:t>
            </a:r>
            <a:r>
              <a:rPr lang="en-IN" sz="2000" dirty="0" err="1">
                <a:solidFill>
                  <a:schemeClr val="bg1"/>
                </a:solidFill>
              </a:rPr>
              <a:t>Analyzes</a:t>
            </a:r>
            <a:r>
              <a:rPr lang="en-IN" sz="2000" dirty="0">
                <a:solidFill>
                  <a:schemeClr val="bg1"/>
                </a:solidFill>
              </a:rPr>
              <a:t> password strength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· Generates risk 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909A6-4316-F56B-708F-48CFC38FBB25}"/>
              </a:ext>
            </a:extLst>
          </p:cNvPr>
          <p:cNvSpPr txBox="1"/>
          <p:nvPr/>
        </p:nvSpPr>
        <p:spPr>
          <a:xfrm>
            <a:off x="3244645" y="599768"/>
            <a:ext cx="6721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Is The Possible Solution?</a:t>
            </a:r>
            <a:endParaRPr lang="en-IN" sz="36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 computer error message with a person in a hood&#10;&#10;AI-generated content may be incorrect.">
            <a:extLst>
              <a:ext uri="{FF2B5EF4-FFF2-40B4-BE49-F238E27FC236}">
                <a16:creationId xmlns:a16="http://schemas.microsoft.com/office/drawing/2014/main" id="{79A7DFD4-8018-93F9-7628-940126D7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76" y="2658087"/>
            <a:ext cx="3721726" cy="2120390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156138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28403E-C2C0-9403-8425-D3B61CF8B626}"/>
              </a:ext>
            </a:extLst>
          </p:cNvPr>
          <p:cNvSpPr txBox="1"/>
          <p:nvPr/>
        </p:nvSpPr>
        <p:spPr>
          <a:xfrm>
            <a:off x="2595716" y="550606"/>
            <a:ext cx="8486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Makes Our Project Special? 💪 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484DF-0681-E049-1D8A-36CCD0005142}"/>
              </a:ext>
            </a:extLst>
          </p:cNvPr>
          <p:cNvSpPr txBox="1"/>
          <p:nvPr/>
        </p:nvSpPr>
        <p:spPr>
          <a:xfrm>
            <a:off x="845576" y="2753033"/>
            <a:ext cx="72070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IN" sz="2000" b="1" dirty="0">
                <a:solidFill>
                  <a:schemeClr val="bg1"/>
                </a:solidFill>
              </a:rPr>
              <a:t>Smart Attack Classification :-</a:t>
            </a:r>
          </a:p>
          <a:p>
            <a:pPr marL="342900" indent="-342900">
              <a:buAutoNum type="arabicParenR"/>
            </a:pP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Smart Attack Classification </a:t>
            </a:r>
            <a:r>
              <a:rPr lang="en-IN" sz="2000" dirty="0" err="1">
                <a:solidFill>
                  <a:schemeClr val="bg1"/>
                </a:solidFill>
              </a:rPr>
              <a:t>analyzes</a:t>
            </a:r>
            <a:r>
              <a:rPr lang="en-IN" sz="2000" dirty="0">
                <a:solidFill>
                  <a:schemeClr val="bg1"/>
                </a:solidFill>
              </a:rPr>
              <a:t> login </a:t>
            </a:r>
            <a:r>
              <a:rPr lang="en-IN" sz="2000" dirty="0" err="1">
                <a:solidFill>
                  <a:schemeClr val="bg1"/>
                </a:solidFill>
              </a:rPr>
              <a:t>behavior,password</a:t>
            </a:r>
            <a:r>
              <a:rPr lang="en-IN" sz="2000" dirty="0">
                <a:solidFill>
                  <a:schemeClr val="bg1"/>
                </a:solidFill>
              </a:rPr>
              <a:t> patterns, and device information </a:t>
            </a:r>
            <a:r>
              <a:rPr lang="en-IN" sz="2000" dirty="0" err="1">
                <a:solidFill>
                  <a:schemeClr val="bg1"/>
                </a:solidFill>
              </a:rPr>
              <a:t>toidentify</a:t>
            </a:r>
            <a:r>
              <a:rPr lang="en-IN" sz="2000" dirty="0">
                <a:solidFill>
                  <a:schemeClr val="bg1"/>
                </a:solidFill>
              </a:rPr>
              <a:t> whether an attack is automated, brute-</a:t>
            </a:r>
            <a:r>
              <a:rPr lang="en-IN" sz="2000" dirty="0" err="1">
                <a:solidFill>
                  <a:schemeClr val="bg1"/>
                </a:solidFill>
              </a:rPr>
              <a:t>force,or</a:t>
            </a:r>
            <a:r>
              <a:rPr lang="en-IN" sz="2000" dirty="0">
                <a:solidFill>
                  <a:schemeClr val="bg1"/>
                </a:solidFill>
              </a:rPr>
              <a:t> targeted, helping assess threat severity </a:t>
            </a:r>
            <a:r>
              <a:rPr lang="en-IN" sz="2000" dirty="0" err="1">
                <a:solidFill>
                  <a:schemeClr val="bg1"/>
                </a:solidFill>
              </a:rPr>
              <a:t>quicklyand</a:t>
            </a:r>
            <a:r>
              <a:rPr lang="en-IN" sz="2000" dirty="0">
                <a:solidFill>
                  <a:schemeClr val="bg1"/>
                </a:solidFill>
              </a:rPr>
              <a:t> accurately.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47F1C3-F589-2A17-7BCE-E016ABA3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68" y="2590681"/>
            <a:ext cx="3372464" cy="1915720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042578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2D6D4C-CF5B-A400-98B2-21A6FCEA39FD}"/>
              </a:ext>
            </a:extLst>
          </p:cNvPr>
          <p:cNvSpPr txBox="1"/>
          <p:nvPr/>
        </p:nvSpPr>
        <p:spPr>
          <a:xfrm>
            <a:off x="4314903" y="865239"/>
            <a:ext cx="3528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Another One…</a:t>
            </a:r>
            <a:endParaRPr lang="en-IN" sz="3600" b="1" dirty="0">
              <a:solidFill>
                <a:schemeClr val="bg1"/>
              </a:solidFill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4D565894-7757-51D9-B896-C662F9583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433" y="342644"/>
            <a:ext cx="2140166" cy="116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FE1D2A-418F-0715-CF3E-120BA9A413CF}"/>
              </a:ext>
            </a:extLst>
          </p:cNvPr>
          <p:cNvSpPr txBox="1"/>
          <p:nvPr/>
        </p:nvSpPr>
        <p:spPr>
          <a:xfrm>
            <a:off x="1330481" y="2792071"/>
            <a:ext cx="543411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2) Real Time Alert system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Whenever someone tries to log into the private network This system sends real time telegram notification to the owner's phone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C274ED1F-4760-95C4-999F-64BD1AE6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0" y="2562289"/>
            <a:ext cx="3671427" cy="2074585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15289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3F5E0A-9D36-923F-63A8-45388714DB05}"/>
              </a:ext>
            </a:extLst>
          </p:cNvPr>
          <p:cNvSpPr txBox="1"/>
          <p:nvPr/>
        </p:nvSpPr>
        <p:spPr>
          <a:xfrm>
            <a:off x="1386348" y="2989007"/>
            <a:ext cx="53979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Identifies &amp; classifies the Attack Type.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 Calculate risk score.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 Alerts in seconds.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Honeypot.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B0F1C-17EC-7649-2172-AD44F46E4C49}"/>
              </a:ext>
            </a:extLst>
          </p:cNvPr>
          <p:cNvSpPr txBox="1"/>
          <p:nvPr/>
        </p:nvSpPr>
        <p:spPr>
          <a:xfrm>
            <a:off x="4214716" y="629264"/>
            <a:ext cx="376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Key Benefits! 🗝️</a:t>
            </a:r>
            <a:endParaRPr lang="en-IN" sz="36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6DE853AA-E16F-8D13-925D-6E6FAB446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179" y="2927416"/>
            <a:ext cx="3683940" cy="2089546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9966750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0BEF480A-A570-C21D-6182-38771200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174" y="2322431"/>
            <a:ext cx="3694231" cy="2033259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F838A-45CD-7B0E-8347-C61C8037A0C3}"/>
              </a:ext>
            </a:extLst>
          </p:cNvPr>
          <p:cNvSpPr txBox="1"/>
          <p:nvPr/>
        </p:nvSpPr>
        <p:spPr>
          <a:xfrm>
            <a:off x="467734" y="2016656"/>
            <a:ext cx="72683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Future Scope of Aegis-Net:-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Al-based behavior analysis for more   accurate attack.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Real-time device isolation and automated response actions.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Centralized dashboard for network-wide threat analysis.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AF846-E421-A8DB-F3A0-76A53758863E}"/>
              </a:ext>
            </a:extLst>
          </p:cNvPr>
          <p:cNvSpPr txBox="1"/>
          <p:nvPr/>
        </p:nvSpPr>
        <p:spPr>
          <a:xfrm>
            <a:off x="2904282" y="448691"/>
            <a:ext cx="7757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About The Future Scope? ⌚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8174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nner with text and a shield&#10;&#10;AI-generated content may be incorrect.">
            <a:extLst>
              <a:ext uri="{FF2B5EF4-FFF2-40B4-BE49-F238E27FC236}">
                <a16:creationId xmlns:a16="http://schemas.microsoft.com/office/drawing/2014/main" id="{D9DD4112-1E66-3895-D5D6-EC767EA4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264" y="2515812"/>
            <a:ext cx="3582510" cy="1966687"/>
          </a:xfrm>
          <a:prstGeom prst="rect">
            <a:avLst/>
          </a:prstGeom>
          <a:effectLst>
            <a:reflection blurRad="6350" stA="20000" endPos="3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A3810E-DF7F-80BF-7E7B-0689268E9EDE}"/>
              </a:ext>
            </a:extLst>
          </p:cNvPr>
          <p:cNvSpPr txBox="1"/>
          <p:nvPr/>
        </p:nvSpPr>
        <p:spPr>
          <a:xfrm>
            <a:off x="3473326" y="403122"/>
            <a:ext cx="5997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Finally The Conclusion! 🙈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EE27E-3D07-C06E-4781-382F3090F904}"/>
              </a:ext>
            </a:extLst>
          </p:cNvPr>
          <p:cNvSpPr txBox="1"/>
          <p:nvPr/>
        </p:nvSpPr>
        <p:spPr>
          <a:xfrm>
            <a:off x="993059" y="1935826"/>
            <a:ext cx="70595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Aegis-Net demonstrates how deception can detect attacks before real damage occurs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 Smart attack classification helps understand attacker intent and risk.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 Real-time alerts improve security awareness for non-technical users 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The system is lightweight, scalable, and suitable a for </a:t>
            </a:r>
            <a:r>
              <a:rPr lang="en-US" sz="2000" dirty="0" err="1">
                <a:solidFill>
                  <a:schemeClr val="bg1"/>
                </a:solidFill>
              </a:rPr>
              <a:t>loT</a:t>
            </a:r>
            <a:r>
              <a:rPr lang="en-US" sz="2000" dirty="0">
                <a:solidFill>
                  <a:schemeClr val="bg1"/>
                </a:solidFill>
              </a:rPr>
              <a:t> and public networks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50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551B66-5371-5C9D-B69F-F17146AA4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891" y="2169319"/>
            <a:ext cx="4467224" cy="2519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56FED-1071-35B1-ADC4-C5288787B5C1}"/>
              </a:ext>
            </a:extLst>
          </p:cNvPr>
          <p:cNvSpPr txBox="1"/>
          <p:nvPr/>
        </p:nvSpPr>
        <p:spPr>
          <a:xfrm>
            <a:off x="7223592" y="4688681"/>
            <a:ext cx="4217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Real Text Message To The Owner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           After The Login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FF608-8290-03FA-C912-3A91CDC13492}"/>
              </a:ext>
            </a:extLst>
          </p:cNvPr>
          <p:cNvSpPr txBox="1"/>
          <p:nvPr/>
        </p:nvSpPr>
        <p:spPr>
          <a:xfrm>
            <a:off x="2659653" y="361170"/>
            <a:ext cx="7794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Real Screenshots Of the project👌</a:t>
            </a:r>
            <a:endParaRPr lang="en-IN" sz="3600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6AB2F3AA-CC11-453B-CA6C-A8A0AF49E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70" y="1855333"/>
            <a:ext cx="2644369" cy="3147333"/>
          </a:xfrm>
          <a:prstGeom prst="rect">
            <a:avLst/>
          </a:prstGeom>
        </p:spPr>
      </p:pic>
      <p:pic>
        <p:nvPicPr>
          <p:cNvPr id="11" name="Picture 10" descr="A login screen with black text&#10;&#10;AI-generated content may be incorrect.">
            <a:extLst>
              <a:ext uri="{FF2B5EF4-FFF2-40B4-BE49-F238E27FC236}">
                <a16:creationId xmlns:a16="http://schemas.microsoft.com/office/drawing/2014/main" id="{20FE3EBD-134C-8D74-B600-E0DF8E219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99" y="2166860"/>
            <a:ext cx="3132091" cy="1882303"/>
          </a:xfrm>
          <a:prstGeom prst="rect">
            <a:avLst/>
          </a:prstGeom>
        </p:spPr>
      </p:pic>
      <p:sp>
        <p:nvSpPr>
          <p:cNvPr id="15" name="Arc 14">
            <a:extLst>
              <a:ext uri="{FF2B5EF4-FFF2-40B4-BE49-F238E27FC236}">
                <a16:creationId xmlns:a16="http://schemas.microsoft.com/office/drawing/2014/main" id="{1404226D-16FD-4F68-BC53-C8BC1A8891AE}"/>
              </a:ext>
            </a:extLst>
          </p:cNvPr>
          <p:cNvSpPr/>
          <p:nvPr/>
        </p:nvSpPr>
        <p:spPr>
          <a:xfrm rot="19264355">
            <a:off x="1245838" y="1538683"/>
            <a:ext cx="3107632" cy="2194335"/>
          </a:xfrm>
          <a:prstGeom prst="arc">
            <a:avLst>
              <a:gd name="adj1" fmla="val 15462116"/>
              <a:gd name="adj2" fmla="val 20183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3200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78A81E9-45B3-614C-11FE-8F6775F28744}"/>
              </a:ext>
            </a:extLst>
          </p:cNvPr>
          <p:cNvSpPr/>
          <p:nvPr/>
        </p:nvSpPr>
        <p:spPr>
          <a:xfrm rot="20285321">
            <a:off x="5428357" y="1343979"/>
            <a:ext cx="3107632" cy="2194335"/>
          </a:xfrm>
          <a:prstGeom prst="arc">
            <a:avLst>
              <a:gd name="adj1" fmla="val 15462116"/>
              <a:gd name="adj2" fmla="val 47642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5455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5" grpId="0" animBg="1"/>
      <p:bldP spid="18" grpId="0" animBg="1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107</TotalTime>
  <Words>359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Slice</vt:lpstr>
      <vt:lpstr>Aegis-Net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kapoor</dc:creator>
  <cp:lastModifiedBy>shivansh kapoor</cp:lastModifiedBy>
  <cp:revision>2</cp:revision>
  <dcterms:created xsi:type="dcterms:W3CDTF">2025-12-31T17:13:02Z</dcterms:created>
  <dcterms:modified xsi:type="dcterms:W3CDTF">2025-12-31T19:00:10Z</dcterms:modified>
</cp:coreProperties>
</file>